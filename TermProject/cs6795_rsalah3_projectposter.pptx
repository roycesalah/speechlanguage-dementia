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5" r:id="rId1"/>
    <p:sldMasterId id="2147483697" r:id="rId2"/>
    <p:sldMasterId id="2147483683" r:id="rId3"/>
  </p:sldMasterIdLst>
  <p:notesMasterIdLst>
    <p:notesMasterId r:id="rId5"/>
  </p:notesMasterIdLst>
  <p:handoutMasterIdLst>
    <p:handoutMasterId r:id="rId6"/>
  </p:handoutMasterIdLst>
  <p:sldIdLst>
    <p:sldId id="256" r:id="rId4"/>
  </p:sldIdLst>
  <p:sldSz cx="12192000" cy="6858000"/>
  <p:notesSz cx="6858000" cy="9144000"/>
  <p:embeddedFontLst>
    <p:embeddedFont>
      <p:font typeface="Roboto" panose="02000000000000000000" pitchFamily="2" charset="0"/>
      <p:regular r:id="rId7"/>
      <p:bold r:id="rId8"/>
      <p:italic r:id="rId9"/>
      <p:boldItalic r:id="rId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A369"/>
    <a:srgbClr val="DCCC6A"/>
    <a:srgbClr val="003057"/>
    <a:srgbClr val="54585A"/>
    <a:srgbClr val="FFCC00"/>
    <a:srgbClr val="004376"/>
    <a:srgbClr val="F9F6E5"/>
    <a:srgbClr val="FF640F"/>
    <a:srgbClr val="6D6137"/>
    <a:srgbClr val="D6DBD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E662B-78BA-95AC-F7DF-8EDB90CC1C7C}" v="40" dt="2024-05-18T00:42:20.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62" autoAdjust="0"/>
    <p:restoredTop sz="96786"/>
  </p:normalViewPr>
  <p:slideViewPr>
    <p:cSldViewPr snapToGrid="0" snapToObjects="1">
      <p:cViewPr>
        <p:scale>
          <a:sx n="125" d="100"/>
          <a:sy n="125" d="100"/>
        </p:scale>
        <p:origin x="1326" y="744"/>
      </p:cViewPr>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font" Target="fonts/font1.fntdata"/><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presProps" Target="presProps.xml"/><Relationship Id="rId5" Type="http://schemas.openxmlformats.org/officeDocument/2006/relationships/notesMaster" Target="notesMasters/notesMaster1.xml"/><Relationship Id="rId15" Type="http://schemas.microsoft.com/office/2015/10/relationships/revisionInfo" Target="revisionInfo.xml"/><Relationship Id="rId10"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font" Target="fonts/font3.fntdata"/><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7/19/2025</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90FB0-7803-314F-9BE0-3772887DCBDE}" type="datetimeFigureOut">
              <a:rPr lang="en-US" smtClean="0"/>
              <a:t>7/19/2025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5D7CC-4584-7D4D-9AC5-26861B0A276E}" type="slidenum">
              <a:rPr lang="en-US" smtClean="0"/>
              <a:t>‹#›</a:t>
            </a:fld>
            <a:endParaRPr lang="en-US"/>
          </a:p>
        </p:txBody>
      </p:sp>
    </p:spTree>
    <p:extLst>
      <p:ext uri="{BB962C8B-B14F-4D97-AF65-F5344CB8AC3E}">
        <p14:creationId xmlns:p14="http://schemas.microsoft.com/office/powerpoint/2010/main" val="180243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r>
              <a:rPr lang="en-US" dirty="0"/>
              <a:t>Click to edit Master subtitle style</a:t>
            </a:r>
          </a:p>
        </p:txBody>
      </p:sp>
    </p:spTree>
    <p:extLst>
      <p:ext uri="{BB962C8B-B14F-4D97-AF65-F5344CB8AC3E}">
        <p14:creationId xmlns:p14="http://schemas.microsoft.com/office/powerpoint/2010/main" val="411419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a:solidFill>
                  <a:schemeClr val="bg1"/>
                </a:solidFill>
              </a:defRPr>
            </a:lvl1pPr>
          </a:lstStyle>
          <a:p>
            <a:r>
              <a:rPr lang="en-US" dirty="0"/>
              <a:t>Click to edit </a:t>
            </a:r>
            <a:br>
              <a:rPr lang="en-US" dirty="0"/>
            </a:br>
            <a:r>
              <a:rPr lang="en-US" dirty="0"/>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r>
              <a:rPr lang="en-US" dirty="0"/>
              <a:t>Click to edit Master subtitle style</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userDrawn="1"/>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27043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s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5FCBB805-91EF-D0F1-B5CA-BCA3290EA431}"/>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4281372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s - Kende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28D4045A-E327-4892-6A89-6CBE5583D417}"/>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1366797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s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6B75A76D-59A5-A55D-8427-D310560791ED}"/>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78162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s - Wre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E3126A54-2183-1E0F-7A09-1B69C88EFBF2}"/>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168068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571505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204609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endParaRPr lang="en-US"/>
          </a:p>
        </p:txBody>
      </p:sp>
    </p:spTree>
    <p:extLst>
      <p:ext uri="{BB962C8B-B14F-4D97-AF65-F5344CB8AC3E}">
        <p14:creationId xmlns:p14="http://schemas.microsoft.com/office/powerpoint/2010/main" val="2182641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7/19/2025</a:t>
            </a:fld>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7/19/2025</a:t>
            </a:fld>
            <a:endParaRPr lang="en-US" dirty="0"/>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dirty="0"/>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337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1" indent="0" algn="ctr">
              <a:buNone/>
              <a:defRPr sz="1600"/>
            </a:lvl7pPr>
            <a:lvl8pPr marL="3199888" indent="0" algn="ctr">
              <a:buNone/>
              <a:defRPr sz="1600"/>
            </a:lvl8pPr>
            <a:lvl9pPr marL="3657015"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88591D-9DAC-1644-8004-080834D9042D}" type="datetimeFigureOut">
              <a:rPr lang="en-US" smtClean="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868ED4-3FD4-8841-94C5-9AB84F068F2C}" type="slidenum">
              <a:rPr lang="en-US" smtClean="0"/>
              <a:t>‹#›</a:t>
            </a:fld>
            <a:endParaRPr lang="en-US" dirty="0"/>
          </a:p>
        </p:txBody>
      </p:sp>
    </p:spTree>
    <p:extLst>
      <p:ext uri="{BB962C8B-B14F-4D97-AF65-F5344CB8AC3E}">
        <p14:creationId xmlns:p14="http://schemas.microsoft.com/office/powerpoint/2010/main" val="2938408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4.jp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8.png"/><Relationship Id="rId5" Type="http://schemas.openxmlformats.org/officeDocument/2006/relationships/slideLayout" Target="../slideLayouts/slideLayout11.xml"/><Relationship Id="rId10" Type="http://schemas.openxmlformats.org/officeDocument/2006/relationships/theme" Target="../theme/theme3.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userDrawn="1"/>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dirty="0"/>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dirty="0"/>
              <a:t>Click to edit Master subtitle style</a:t>
            </a:r>
          </a:p>
        </p:txBody>
      </p:sp>
    </p:spTree>
    <p:extLst>
      <p:ext uri="{BB962C8B-B14F-4D97-AF65-F5344CB8AC3E}">
        <p14:creationId xmlns:p14="http://schemas.microsoft.com/office/powerpoint/2010/main" val="2336126548"/>
      </p:ext>
    </p:extLst>
  </p:cSld>
  <p:clrMap bg1="lt1" tx1="dk1" bg2="lt2" tx2="dk2" accent1="accent1" accent2="accent2" accent3="accent3" accent4="accent4" accent5="accent5" accent6="accent6" hlink="hlink" folHlink="folHlink"/>
  <p:sldLayoutIdLst>
    <p:sldLayoutId id="2147483696" r:id="rId1"/>
    <p:sldLayoutId id="2147483707" r:id="rId2"/>
  </p:sldLayoutIdLst>
  <p:txStyles>
    <p:titleStyle>
      <a:lvl1pPr algn="l"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55A20D-930F-A185-C845-C95F4365004A}"/>
              </a:ext>
            </a:extLst>
          </p:cNvPr>
          <p:cNvSpPr txBox="1">
            <a:spLocks/>
          </p:cNvSpPr>
          <p:nvPr userDrawn="1"/>
        </p:nvSpPr>
        <p:spPr>
          <a:xfrm>
            <a:off x="1746069" y="2137954"/>
            <a:ext cx="8699862" cy="2582091"/>
          </a:xfrm>
          <a:prstGeom prst="rect">
            <a:avLst/>
          </a:prstGeom>
        </p:spPr>
        <p:txBody>
          <a:bodyPr anchor="ctr" anchorCtr="0">
            <a:normAutofit/>
          </a:bodyPr>
          <a:lstStyle>
            <a:lvl1pPr algn="ctr"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dirty="0"/>
          </a:p>
        </p:txBody>
      </p:sp>
      <p:sp>
        <p:nvSpPr>
          <p:cNvPr id="4" name="Title Placeholder 10">
            <a:extLst>
              <a:ext uri="{FF2B5EF4-FFF2-40B4-BE49-F238E27FC236}">
                <a16:creationId xmlns:a16="http://schemas.microsoft.com/office/drawing/2014/main" id="{C83A85DD-FCD4-4A59-0F3C-B8F9FA03085F}"/>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426583652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ctr"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016554A5-B4DD-7045-B047-B7DA6D1E70A4}" type="datetimeFigureOut">
              <a:rPr lang="en-US" smtClean="0"/>
              <a:pPr/>
              <a:t>7/19/2025</a:t>
            </a:fld>
            <a:endParaRPr lang="en-US" dirty="0"/>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dirty="0"/>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93" r:id="rId4"/>
    <p:sldLayoutId id="2147483690" r:id="rId5"/>
    <p:sldLayoutId id="2147483691" r:id="rId6"/>
    <p:sldLayoutId id="2147483692" r:id="rId7"/>
    <p:sldLayoutId id="2147483694" r:id="rId8"/>
    <p:sldLayoutId id="2147483708" r:id="rId9"/>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decorative"/>
          <p:cNvSpPr>
            <a:spLocks/>
          </p:cNvSpPr>
          <p:nvPr/>
        </p:nvSpPr>
        <p:spPr>
          <a:xfrm>
            <a:off x="143927" y="70080"/>
            <a:ext cx="6286500" cy="7564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75" dirty="0"/>
          </a:p>
        </p:txBody>
      </p:sp>
      <p:sp>
        <p:nvSpPr>
          <p:cNvPr id="6" name="Rectangle 5" descr="background"/>
          <p:cNvSpPr>
            <a:spLocks/>
          </p:cNvSpPr>
          <p:nvPr/>
        </p:nvSpPr>
        <p:spPr>
          <a:xfrm>
            <a:off x="143927" y="712258"/>
            <a:ext cx="5249444" cy="381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375" dirty="0"/>
          </a:p>
        </p:txBody>
      </p:sp>
      <p:sp>
        <p:nvSpPr>
          <p:cNvPr id="8" name="TextBox 7"/>
          <p:cNvSpPr txBox="1"/>
          <p:nvPr/>
        </p:nvSpPr>
        <p:spPr>
          <a:xfrm>
            <a:off x="142505" y="1609849"/>
            <a:ext cx="3590308" cy="2169825"/>
          </a:xfrm>
          <a:prstGeom prst="rect">
            <a:avLst/>
          </a:prstGeom>
          <a:noFill/>
        </p:spPr>
        <p:txBody>
          <a:bodyPr wrap="square" rtlCol="0">
            <a:spAutoFit/>
          </a:bodyPr>
          <a:lstStyle/>
          <a:p>
            <a:r>
              <a:rPr lang="en-US" sz="900" dirty="0"/>
              <a:t>Dementia often goes undetected until late stages, limiting treatment options and quality of life [1,2]. Subtle linguistic and acoustic changes—such as reduced lexical diversity, increased pronoun use, disfluencies, and slower speech—are early cognitive markers but remain difficult to detect clinically [4,5,6,9]. This research asks: Can multimodal speech and text analysis, grounded in cognitive science, identify early signs of dementia up to 15 years before diagnosis?</a:t>
            </a:r>
          </a:p>
          <a:p>
            <a:r>
              <a:rPr lang="en-US" sz="900" dirty="0"/>
              <a:t>Insights from semantic memory degradation, lexical retrieval failure, and discourse coherence theory [3,4,6] are combined with machine learning. Using the </a:t>
            </a:r>
            <a:r>
              <a:rPr lang="en-US" sz="900" dirty="0" err="1"/>
              <a:t>DementiaNet</a:t>
            </a:r>
            <a:r>
              <a:rPr lang="en-US" sz="900" dirty="0"/>
              <a:t> corpus of real-world interviews, this study extracts features such as lexical entropy, semantic drift [6], and acoustic prosody [10,11], aiming to develop lightweight, interpretable models capable of scalable early screening.</a:t>
            </a:r>
          </a:p>
        </p:txBody>
      </p:sp>
      <p:sp>
        <p:nvSpPr>
          <p:cNvPr id="10" name="TextBox 9"/>
          <p:cNvSpPr txBox="1"/>
          <p:nvPr/>
        </p:nvSpPr>
        <p:spPr>
          <a:xfrm>
            <a:off x="136360" y="1319005"/>
            <a:ext cx="1850186" cy="369332"/>
          </a:xfrm>
          <a:prstGeom prst="rect">
            <a:avLst/>
          </a:prstGeom>
          <a:noFill/>
        </p:spPr>
        <p:txBody>
          <a:bodyPr wrap="none" rtlCol="0">
            <a:spAutoFit/>
          </a:bodyPr>
          <a:lstStyle/>
          <a:p>
            <a:r>
              <a:rPr lang="en-US" b="1" dirty="0">
                <a:ln w="0"/>
                <a:effectLst>
                  <a:outerShdw blurRad="38100" dist="19050" dir="2700000" algn="tl" rotWithShape="0">
                    <a:schemeClr val="dk1">
                      <a:alpha val="40000"/>
                    </a:schemeClr>
                  </a:outerShdw>
                </a:effectLst>
                <a:latin typeface="Roboto" panose="02000000000000000000" pitchFamily="2" charset="0"/>
                <a:ea typeface="Roboto" panose="02000000000000000000" pitchFamily="2" charset="0"/>
                <a:cs typeface="Roboto" panose="02000000000000000000" pitchFamily="2" charset="0"/>
              </a:rPr>
              <a:t>INTRODUCTION</a:t>
            </a:r>
          </a:p>
        </p:txBody>
      </p:sp>
      <p:sp>
        <p:nvSpPr>
          <p:cNvPr id="14" name="TextBox 13"/>
          <p:cNvSpPr txBox="1">
            <a:spLocks/>
          </p:cNvSpPr>
          <p:nvPr/>
        </p:nvSpPr>
        <p:spPr>
          <a:xfrm>
            <a:off x="110249" y="21203"/>
            <a:ext cx="6350832" cy="707886"/>
          </a:xfrm>
          <a:prstGeom prst="rect">
            <a:avLst/>
          </a:prstGeom>
          <a:noFill/>
        </p:spPr>
        <p:txBody>
          <a:bodyPr wrap="square" lIns="91440" tIns="45720" rIns="91440" bIns="45720" rtlCol="0" anchor="t">
            <a:spAutoFit/>
          </a:bodyPr>
          <a:lstStyle/>
          <a:p>
            <a:r>
              <a:rPr lang="en-US" sz="2000" b="1" dirty="0">
                <a:solidFill>
                  <a:schemeClr val="bg1"/>
                </a:solidFill>
                <a:latin typeface="Roboto"/>
                <a:ea typeface="Roboto"/>
                <a:cs typeface="Roboto"/>
              </a:rPr>
              <a:t>Early Detection of Dementia Using Multimodal Speech and Text Analysis</a:t>
            </a:r>
          </a:p>
        </p:txBody>
      </p:sp>
      <p:sp>
        <p:nvSpPr>
          <p:cNvPr id="19" name="TextBox 18" descr="decorative"/>
          <p:cNvSpPr txBox="1">
            <a:spLocks/>
          </p:cNvSpPr>
          <p:nvPr/>
        </p:nvSpPr>
        <p:spPr>
          <a:xfrm>
            <a:off x="168507" y="705422"/>
            <a:ext cx="4654486" cy="400110"/>
          </a:xfrm>
          <a:prstGeom prst="rect">
            <a:avLst/>
          </a:prstGeom>
          <a:noFill/>
        </p:spPr>
        <p:txBody>
          <a:bodyPr wrap="square" lIns="91440" tIns="45720" rIns="91440" bIns="45720" rtlCol="0" anchor="t">
            <a:spAutoFit/>
          </a:bodyPr>
          <a:lstStyle/>
          <a:p>
            <a:r>
              <a:rPr lang="en-US" sz="1000" dirty="0">
                <a:solidFill>
                  <a:schemeClr val="bg1"/>
                </a:solidFill>
                <a:latin typeface="Roboto"/>
                <a:ea typeface="Roboto"/>
                <a:cs typeface="Roboto"/>
              </a:rPr>
              <a:t>Research conducted by Royce Salah</a:t>
            </a:r>
          </a:p>
          <a:p>
            <a:r>
              <a:rPr lang="en-US" sz="1000" dirty="0">
                <a:solidFill>
                  <a:schemeClr val="bg1"/>
                </a:solidFill>
                <a:latin typeface="Roboto"/>
                <a:ea typeface="Roboto"/>
                <a:cs typeface="Roboto"/>
              </a:rPr>
              <a:t>Video Presentation Link: </a:t>
            </a:r>
            <a:r>
              <a:rPr lang="en-US" sz="1000" u="sng" dirty="0">
                <a:solidFill>
                  <a:schemeClr val="bg1"/>
                </a:solidFill>
                <a:latin typeface="Roboto"/>
                <a:ea typeface="Roboto"/>
                <a:cs typeface="Roboto"/>
              </a:rPr>
              <a:t>https://youtu.be/Rx-Usmjf6jE</a:t>
            </a:r>
            <a:endParaRPr lang="en-US" sz="1000" u="sng" dirty="0">
              <a:solidFill>
                <a:schemeClr val="bg1"/>
              </a:solidFill>
              <a:highlight>
                <a:srgbClr val="FF0000"/>
              </a:highlight>
              <a:latin typeface="Roboto"/>
              <a:ea typeface="Roboto"/>
              <a:cs typeface="Roboto"/>
            </a:endParaRPr>
          </a:p>
        </p:txBody>
      </p:sp>
      <p:sp>
        <p:nvSpPr>
          <p:cNvPr id="22" name="Rectangle 21" descr="decorative"/>
          <p:cNvSpPr/>
          <p:nvPr/>
        </p:nvSpPr>
        <p:spPr>
          <a:xfrm rot="5400000" flipV="1">
            <a:off x="1017608" y="3922523"/>
            <a:ext cx="5543719" cy="45719"/>
          </a:xfrm>
          <a:prstGeom prst="rect">
            <a:avLst/>
          </a:prstGeom>
          <a:solidFill>
            <a:srgbClr val="CAC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75" dirty="0"/>
          </a:p>
        </p:txBody>
      </p:sp>
      <p:sp>
        <p:nvSpPr>
          <p:cNvPr id="24" name="Rectangle 23" descr="decorative"/>
          <p:cNvSpPr/>
          <p:nvPr/>
        </p:nvSpPr>
        <p:spPr>
          <a:xfrm rot="5400000">
            <a:off x="6821795" y="2419147"/>
            <a:ext cx="2536967" cy="45719"/>
          </a:xfrm>
          <a:prstGeom prst="rect">
            <a:avLst/>
          </a:prstGeom>
          <a:solidFill>
            <a:srgbClr val="CAC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75" dirty="0"/>
          </a:p>
        </p:txBody>
      </p:sp>
      <p:sp>
        <p:nvSpPr>
          <p:cNvPr id="30" name="Rectangle 29" descr="decorative"/>
          <p:cNvSpPr/>
          <p:nvPr/>
        </p:nvSpPr>
        <p:spPr>
          <a:xfrm rot="10800000" flipV="1">
            <a:off x="215573" y="3721122"/>
            <a:ext cx="3400860" cy="45720"/>
          </a:xfrm>
          <a:prstGeom prst="rect">
            <a:avLst/>
          </a:prstGeom>
          <a:solidFill>
            <a:srgbClr val="CAC8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75" dirty="0"/>
          </a:p>
        </p:txBody>
      </p:sp>
      <p:sp>
        <p:nvSpPr>
          <p:cNvPr id="11" name="TextBox 10">
            <a:extLst>
              <a:ext uri="{FF2B5EF4-FFF2-40B4-BE49-F238E27FC236}">
                <a16:creationId xmlns:a16="http://schemas.microsoft.com/office/drawing/2014/main" id="{9FAADF66-7D28-6F4A-1E67-689D248E1340}"/>
              </a:ext>
            </a:extLst>
          </p:cNvPr>
          <p:cNvSpPr txBox="1"/>
          <p:nvPr/>
        </p:nvSpPr>
        <p:spPr>
          <a:xfrm>
            <a:off x="136360" y="3710488"/>
            <a:ext cx="990977" cy="369332"/>
          </a:xfrm>
          <a:prstGeom prst="rect">
            <a:avLst/>
          </a:prstGeom>
          <a:noFill/>
        </p:spPr>
        <p:txBody>
          <a:bodyPr wrap="none" lIns="91440" tIns="45720" rIns="91440" bIns="45720" rtlCol="0" anchor="t">
            <a:spAutoFit/>
          </a:bodyPr>
          <a:lstStyle/>
          <a:p>
            <a:r>
              <a:rPr lang="en-US" b="1" dirty="0">
                <a:ln w="0"/>
                <a:effectLst>
                  <a:outerShdw blurRad="38100" dist="19050" dir="2700000" algn="tl" rotWithShape="0">
                    <a:schemeClr val="dk1">
                      <a:alpha val="40000"/>
                    </a:schemeClr>
                  </a:outerShdw>
                </a:effectLst>
                <a:latin typeface="Roboto"/>
                <a:ea typeface="Roboto"/>
                <a:cs typeface="Roboto"/>
              </a:rPr>
              <a:t>DESIGN</a:t>
            </a:r>
          </a:p>
        </p:txBody>
      </p:sp>
      <p:sp>
        <p:nvSpPr>
          <p:cNvPr id="16" name="TextBox 15">
            <a:extLst>
              <a:ext uri="{FF2B5EF4-FFF2-40B4-BE49-F238E27FC236}">
                <a16:creationId xmlns:a16="http://schemas.microsoft.com/office/drawing/2014/main" id="{99F3132B-00B9-A2AC-03CD-FEB86ABC5A49}"/>
              </a:ext>
            </a:extLst>
          </p:cNvPr>
          <p:cNvSpPr txBox="1"/>
          <p:nvPr/>
        </p:nvSpPr>
        <p:spPr>
          <a:xfrm>
            <a:off x="8206500" y="1335190"/>
            <a:ext cx="1944263" cy="369332"/>
          </a:xfrm>
          <a:prstGeom prst="rect">
            <a:avLst/>
          </a:prstGeom>
          <a:noFill/>
        </p:spPr>
        <p:txBody>
          <a:bodyPr wrap="square" lIns="91440" tIns="45720" rIns="91440" bIns="45720" rtlCol="0" anchor="t">
            <a:spAutoFit/>
          </a:bodyPr>
          <a:lstStyle/>
          <a:p>
            <a:r>
              <a:rPr lang="en-US" b="1" dirty="0">
                <a:ln w="0"/>
                <a:effectLst>
                  <a:outerShdw blurRad="38100" dist="19050" dir="2700000" algn="tl" rotWithShape="0">
                    <a:schemeClr val="dk1">
                      <a:alpha val="40000"/>
                    </a:schemeClr>
                  </a:outerShdw>
                </a:effectLst>
                <a:latin typeface="Roboto"/>
                <a:ea typeface="Roboto"/>
                <a:cs typeface="Roboto"/>
              </a:rPr>
              <a:t>CONCLUSION</a:t>
            </a:r>
            <a:endParaRPr lang="en-US" b="1" dirty="0">
              <a:ln w="0"/>
              <a:effectLst>
                <a:outerShdw blurRad="38100" dist="19050" dir="2700000" algn="tl" rotWithShape="0">
                  <a:srgbClr val="003057">
                    <a:alpha val="40000"/>
                  </a:srgbClr>
                </a:outerShdw>
              </a:effectLst>
              <a:latin typeface="Roboto"/>
              <a:ea typeface="Roboto"/>
              <a:cs typeface="Roboto"/>
            </a:endParaRPr>
          </a:p>
        </p:txBody>
      </p:sp>
      <p:sp>
        <p:nvSpPr>
          <p:cNvPr id="17" name="TextBox 16">
            <a:extLst>
              <a:ext uri="{FF2B5EF4-FFF2-40B4-BE49-F238E27FC236}">
                <a16:creationId xmlns:a16="http://schemas.microsoft.com/office/drawing/2014/main" id="{3D094DCE-1EC9-96B8-6935-1079FFD932F1}"/>
              </a:ext>
            </a:extLst>
          </p:cNvPr>
          <p:cNvSpPr txBox="1"/>
          <p:nvPr/>
        </p:nvSpPr>
        <p:spPr>
          <a:xfrm>
            <a:off x="3812328" y="1335190"/>
            <a:ext cx="1167307" cy="369332"/>
          </a:xfrm>
          <a:prstGeom prst="rect">
            <a:avLst/>
          </a:prstGeom>
          <a:noFill/>
        </p:spPr>
        <p:txBody>
          <a:bodyPr wrap="none" rtlCol="0">
            <a:spAutoFit/>
          </a:bodyPr>
          <a:lstStyle/>
          <a:p>
            <a:r>
              <a:rPr lang="en-US" b="1" dirty="0">
                <a:ln w="0"/>
                <a:effectLst>
                  <a:outerShdw blurRad="38100" dist="19050" dir="2700000" algn="tl" rotWithShape="0">
                    <a:schemeClr val="dk1">
                      <a:alpha val="40000"/>
                    </a:schemeClr>
                  </a:outerShdw>
                </a:effectLst>
                <a:latin typeface="Roboto" panose="02000000000000000000" pitchFamily="2" charset="0"/>
                <a:ea typeface="Roboto" panose="02000000000000000000" pitchFamily="2" charset="0"/>
                <a:cs typeface="Roboto" panose="02000000000000000000" pitchFamily="2" charset="0"/>
              </a:rPr>
              <a:t>RESULTS</a:t>
            </a:r>
            <a:endParaRPr lang="en-US" b="1" dirty="0">
              <a:ln w="0"/>
              <a:solidFill>
                <a:schemeClr val="accent1"/>
              </a:solidFill>
              <a:effectLst>
                <a:outerShdw blurRad="38100" dist="25400" dir="5400000" algn="ctr" rotWithShape="0">
                  <a:srgbClr val="6E747A">
                    <a:alpha val="43000"/>
                  </a:srgbClr>
                </a:outerShdw>
              </a:effectLst>
              <a:latin typeface="Roboto" panose="02000000000000000000" pitchFamily="2" charset="0"/>
              <a:ea typeface="Roboto" panose="02000000000000000000" pitchFamily="2" charset="0"/>
              <a:cs typeface="Roboto" panose="02000000000000000000" pitchFamily="2" charset="0"/>
            </a:endParaRPr>
          </a:p>
        </p:txBody>
      </p:sp>
      <p:sp>
        <p:nvSpPr>
          <p:cNvPr id="18" name="TextBox 17">
            <a:extLst>
              <a:ext uri="{FF2B5EF4-FFF2-40B4-BE49-F238E27FC236}">
                <a16:creationId xmlns:a16="http://schemas.microsoft.com/office/drawing/2014/main" id="{8729DA67-09E1-01A8-1C71-8B941E08C076}"/>
              </a:ext>
            </a:extLst>
          </p:cNvPr>
          <p:cNvSpPr txBox="1"/>
          <p:nvPr/>
        </p:nvSpPr>
        <p:spPr>
          <a:xfrm>
            <a:off x="143927" y="4049042"/>
            <a:ext cx="3472505" cy="2446824"/>
          </a:xfrm>
          <a:prstGeom prst="rect">
            <a:avLst/>
          </a:prstGeom>
          <a:noFill/>
        </p:spPr>
        <p:txBody>
          <a:bodyPr wrap="square" rtlCol="0">
            <a:spAutoFit/>
          </a:bodyPr>
          <a:lstStyle/>
          <a:p>
            <a:r>
              <a:rPr lang="en-US" sz="900" dirty="0"/>
              <a:t>The </a:t>
            </a:r>
            <a:r>
              <a:rPr lang="en-US" sz="900" b="1" dirty="0" err="1"/>
              <a:t>DementiaNet</a:t>
            </a:r>
            <a:r>
              <a:rPr lang="en-US" sz="900" dirty="0"/>
              <a:t> dataset includes interviews from 84 individuals later diagnosed with dementia and 62 healthy controls, recorded 5–15 years pre-diagnosis.</a:t>
            </a:r>
          </a:p>
          <a:p>
            <a:r>
              <a:rPr lang="en-US" sz="900" dirty="0"/>
              <a:t>A </a:t>
            </a:r>
            <a:r>
              <a:rPr lang="en-US" sz="900" b="1" dirty="0"/>
              <a:t>multimodal pipeline</a:t>
            </a:r>
            <a:r>
              <a:rPr lang="en-US" sz="900" dirty="0"/>
              <a:t> extracted:</a:t>
            </a:r>
          </a:p>
          <a:p>
            <a:pPr marL="171450" indent="-171450">
              <a:buFont typeface="Arial" panose="020B0604020202020204" pitchFamily="34" charset="0"/>
              <a:buChar char="•"/>
            </a:pPr>
            <a:r>
              <a:rPr lang="en-US" sz="900" b="1" dirty="0"/>
              <a:t>Lexical features</a:t>
            </a:r>
            <a:r>
              <a:rPr lang="en-US" sz="900" dirty="0"/>
              <a:t>: semantic drift (</a:t>
            </a:r>
            <a:r>
              <a:rPr lang="en-US" sz="900" dirty="0" err="1"/>
              <a:t>MiniLM</a:t>
            </a:r>
            <a:r>
              <a:rPr lang="en-US" sz="900" dirty="0"/>
              <a:t>), lexical entropy (GPT-2), type-token ratio, pronoun ratio, sentence length</a:t>
            </a:r>
          </a:p>
          <a:p>
            <a:pPr marL="171450" indent="-171450">
              <a:buFont typeface="Arial" panose="020B0604020202020204" pitchFamily="34" charset="0"/>
              <a:buChar char="•"/>
            </a:pPr>
            <a:r>
              <a:rPr lang="en-US" sz="900" b="1" dirty="0"/>
              <a:t>Acoustic features</a:t>
            </a:r>
            <a:r>
              <a:rPr lang="en-US" sz="900" dirty="0"/>
              <a:t>: prosodic markers (pitch, jitter, pauses, speech rate) via </a:t>
            </a:r>
            <a:r>
              <a:rPr lang="en-US" sz="900" dirty="0" err="1"/>
              <a:t>openSMILE</a:t>
            </a:r>
            <a:r>
              <a:rPr lang="en-US" sz="900" dirty="0"/>
              <a:t>/eGeMAPSv02</a:t>
            </a:r>
          </a:p>
          <a:p>
            <a:pPr marL="171450" indent="-171450">
              <a:buFont typeface="Arial" panose="020B0604020202020204" pitchFamily="34" charset="0"/>
              <a:buChar char="•"/>
            </a:pPr>
            <a:r>
              <a:rPr lang="en-US" sz="900" b="1" dirty="0"/>
              <a:t>Transcription</a:t>
            </a:r>
            <a:r>
              <a:rPr lang="en-US" sz="900" dirty="0"/>
              <a:t>: Whisper ASR preserved natural speech variability</a:t>
            </a:r>
          </a:p>
          <a:p>
            <a:r>
              <a:rPr lang="en-US" sz="900" dirty="0"/>
              <a:t>Separate models were trained per modality (logistic regression for lexical, random forest for acoustic), then combined via a meta-classifier. Evaluation used 10-fold speaker-wise Group-K Fold cross-validation to prevent data leakage.</a:t>
            </a:r>
          </a:p>
          <a:p>
            <a:r>
              <a:rPr lang="en-US" sz="900" dirty="0"/>
              <a:t>The hypothesis posited that subtle speech and language changes serve as early markers of cognitive decline, with lexical and acoustic features predicting dementia/control status.</a:t>
            </a:r>
          </a:p>
        </p:txBody>
      </p:sp>
      <p:sp>
        <p:nvSpPr>
          <p:cNvPr id="67" name="Rectangle 66">
            <a:extLst>
              <a:ext uri="{FF2B5EF4-FFF2-40B4-BE49-F238E27FC236}">
                <a16:creationId xmlns:a16="http://schemas.microsoft.com/office/drawing/2014/main" id="{9219EDD1-14C1-A013-5D6A-BDD89F94B606}"/>
              </a:ext>
            </a:extLst>
          </p:cNvPr>
          <p:cNvSpPr/>
          <p:nvPr/>
        </p:nvSpPr>
        <p:spPr>
          <a:xfrm>
            <a:off x="10223829" y="3933042"/>
            <a:ext cx="1818361" cy="4271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0F05213B-E8DA-82CB-76AE-55269FA74D68}"/>
              </a:ext>
            </a:extLst>
          </p:cNvPr>
          <p:cNvSpPr txBox="1"/>
          <p:nvPr/>
        </p:nvSpPr>
        <p:spPr>
          <a:xfrm>
            <a:off x="10271560" y="3968204"/>
            <a:ext cx="1722898" cy="307777"/>
          </a:xfrm>
          <a:prstGeom prst="rect">
            <a:avLst/>
          </a:prstGeom>
          <a:noFill/>
        </p:spPr>
        <p:txBody>
          <a:bodyPr wrap="square" lIns="91440" tIns="45720" rIns="91440" bIns="45720" rtlCol="0" anchor="t">
            <a:spAutoFit/>
          </a:bodyPr>
          <a:lstStyle/>
          <a:p>
            <a:pPr algn="ctr"/>
            <a:r>
              <a:rPr lang="en-US" sz="1400" b="1" i="0" dirty="0">
                <a:solidFill>
                  <a:schemeClr val="bg1"/>
                </a:solidFill>
                <a:effectLst/>
                <a:latin typeface="Roboto"/>
                <a:ea typeface="Roboto Slab"/>
                <a:cs typeface="Roboto"/>
              </a:rPr>
              <a:t>References</a:t>
            </a:r>
            <a:endParaRPr lang="en-US" sz="1400" b="1" dirty="0">
              <a:solidFill>
                <a:schemeClr val="bg1"/>
              </a:solidFill>
              <a:latin typeface="Roboto"/>
              <a:ea typeface="Roboto Slab"/>
              <a:cs typeface="Roboto"/>
            </a:endParaRPr>
          </a:p>
        </p:txBody>
      </p:sp>
      <p:sp>
        <p:nvSpPr>
          <p:cNvPr id="74" name="Rectangle 73">
            <a:extLst>
              <a:ext uri="{FF2B5EF4-FFF2-40B4-BE49-F238E27FC236}">
                <a16:creationId xmlns:a16="http://schemas.microsoft.com/office/drawing/2014/main" id="{C8D46F21-832C-23B4-36AB-F610C194C1C8}"/>
              </a:ext>
            </a:extLst>
          </p:cNvPr>
          <p:cNvSpPr/>
          <p:nvPr/>
        </p:nvSpPr>
        <p:spPr>
          <a:xfrm>
            <a:off x="10222033" y="4350570"/>
            <a:ext cx="1821955" cy="2367315"/>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8A3799CF-7425-B8C5-3CC0-37BAF1FB2D81}"/>
              </a:ext>
            </a:extLst>
          </p:cNvPr>
          <p:cNvSpPr txBox="1"/>
          <p:nvPr/>
        </p:nvSpPr>
        <p:spPr>
          <a:xfrm>
            <a:off x="10226011" y="4391948"/>
            <a:ext cx="1814948" cy="2446824"/>
          </a:xfrm>
          <a:prstGeom prst="rect">
            <a:avLst/>
          </a:prstGeom>
          <a:noFill/>
        </p:spPr>
        <p:txBody>
          <a:bodyPr wrap="square" rtlCol="0">
            <a:spAutoFit/>
          </a:bodyPr>
          <a:lstStyle/>
          <a:p>
            <a:pPr lvl="0" defTabSz="914400" eaLnBrk="0" fontAlgn="base" hangingPunct="0">
              <a:spcBef>
                <a:spcPct val="0"/>
              </a:spcBef>
              <a:spcAft>
                <a:spcPct val="0"/>
              </a:spcAft>
            </a:pPr>
            <a:r>
              <a:rPr lang="en-US" altLang="en-US" sz="800" b="1" dirty="0">
                <a:latin typeface="Arial" panose="020B0604020202020204" pitchFamily="34" charset="0"/>
              </a:rPr>
              <a:t>[1]</a:t>
            </a:r>
            <a:r>
              <a:rPr lang="en-US" altLang="en-US" sz="800" dirty="0">
                <a:latin typeface="Arial" panose="020B0604020202020204" pitchFamily="34" charset="0"/>
              </a:rPr>
              <a:t> Amjad et al., 2018 – Underdiagnosis</a:t>
            </a:r>
          </a:p>
          <a:p>
            <a:pPr lvl="0" defTabSz="914400" eaLnBrk="0" fontAlgn="base" hangingPunct="0">
              <a:spcBef>
                <a:spcPct val="0"/>
              </a:spcBef>
              <a:spcAft>
                <a:spcPct val="0"/>
              </a:spcAft>
            </a:pPr>
            <a:r>
              <a:rPr lang="en-US" altLang="en-US" sz="800" b="1" dirty="0">
                <a:latin typeface="Arial" panose="020B0604020202020204" pitchFamily="34" charset="0"/>
              </a:rPr>
              <a:t>[2]</a:t>
            </a:r>
            <a:r>
              <a:rPr lang="en-US" altLang="en-US" sz="800" dirty="0">
                <a:latin typeface="Arial" panose="020B0604020202020204" pitchFamily="34" charset="0"/>
              </a:rPr>
              <a:t> Bradford et al., 2009 – Missed diagnosis</a:t>
            </a:r>
          </a:p>
          <a:p>
            <a:pPr lvl="0" defTabSz="914400" eaLnBrk="0" fontAlgn="base" hangingPunct="0">
              <a:spcBef>
                <a:spcPct val="0"/>
              </a:spcBef>
              <a:spcAft>
                <a:spcPct val="0"/>
              </a:spcAft>
            </a:pPr>
            <a:r>
              <a:rPr lang="en-US" altLang="en-US" sz="800" b="1" dirty="0">
                <a:latin typeface="Arial" panose="020B0604020202020204" pitchFamily="34" charset="0"/>
              </a:rPr>
              <a:t>[3]</a:t>
            </a:r>
            <a:r>
              <a:rPr lang="en-US" altLang="en-US" sz="800" dirty="0">
                <a:latin typeface="Arial" panose="020B0604020202020204" pitchFamily="34" charset="0"/>
              </a:rPr>
              <a:t> Young et al., 2024 – Tau burden and speech</a:t>
            </a:r>
          </a:p>
          <a:p>
            <a:pPr lvl="0" defTabSz="914400" eaLnBrk="0" fontAlgn="base" hangingPunct="0">
              <a:spcBef>
                <a:spcPct val="0"/>
              </a:spcBef>
              <a:spcAft>
                <a:spcPct val="0"/>
              </a:spcAft>
            </a:pPr>
            <a:r>
              <a:rPr lang="en-US" altLang="en-US" sz="800" b="1" dirty="0">
                <a:latin typeface="Arial" panose="020B0604020202020204" pitchFamily="34" charset="0"/>
              </a:rPr>
              <a:t>[4]</a:t>
            </a:r>
            <a:r>
              <a:rPr lang="en-US" altLang="en-US" sz="800" dirty="0">
                <a:latin typeface="Arial" panose="020B0604020202020204" pitchFamily="34" charset="0"/>
              </a:rPr>
              <a:t> “Language Markers of Dementia,” Front. Aging </a:t>
            </a:r>
            <a:r>
              <a:rPr lang="en-US" altLang="en-US" sz="800" dirty="0" err="1">
                <a:latin typeface="Arial" panose="020B0604020202020204" pitchFamily="34" charset="0"/>
              </a:rPr>
              <a:t>Neurosci</a:t>
            </a:r>
            <a:r>
              <a:rPr lang="en-US" altLang="en-US" sz="800" dirty="0">
                <a:latin typeface="Arial" panose="020B0604020202020204" pitchFamily="34" charset="0"/>
              </a:rPr>
              <a:t>.</a:t>
            </a:r>
          </a:p>
          <a:p>
            <a:pPr lvl="0" defTabSz="914400" eaLnBrk="0" fontAlgn="base" hangingPunct="0">
              <a:spcBef>
                <a:spcPct val="0"/>
              </a:spcBef>
              <a:spcAft>
                <a:spcPct val="0"/>
              </a:spcAft>
            </a:pPr>
            <a:r>
              <a:rPr lang="en-US" altLang="en-US" sz="800" b="1" dirty="0">
                <a:latin typeface="Arial" panose="020B0604020202020204" pitchFamily="34" charset="0"/>
              </a:rPr>
              <a:t>[5]</a:t>
            </a:r>
            <a:r>
              <a:rPr lang="en-US" altLang="en-US" sz="800" dirty="0">
                <a:latin typeface="Arial" panose="020B0604020202020204" pitchFamily="34" charset="0"/>
              </a:rPr>
              <a:t> </a:t>
            </a:r>
            <a:r>
              <a:rPr lang="en-US" altLang="en-US" sz="800" dirty="0" err="1">
                <a:latin typeface="Arial" panose="020B0604020202020204" pitchFamily="34" charset="0"/>
              </a:rPr>
              <a:t>Rentoumi</a:t>
            </a:r>
            <a:r>
              <a:rPr lang="en-US" altLang="en-US" sz="800" dirty="0">
                <a:latin typeface="Arial" panose="020B0604020202020204" pitchFamily="34" charset="0"/>
              </a:rPr>
              <a:t> et al., 2017 – Linguistic indicators</a:t>
            </a:r>
          </a:p>
          <a:p>
            <a:pPr lvl="0" defTabSz="914400" eaLnBrk="0" fontAlgn="base" hangingPunct="0">
              <a:spcBef>
                <a:spcPct val="0"/>
              </a:spcBef>
              <a:spcAft>
                <a:spcPct val="0"/>
              </a:spcAft>
            </a:pPr>
            <a:r>
              <a:rPr lang="en-US" altLang="en-US" sz="800" b="1" dirty="0">
                <a:latin typeface="Arial" panose="020B0604020202020204" pitchFamily="34" charset="0"/>
              </a:rPr>
              <a:t>[6]</a:t>
            </a:r>
            <a:r>
              <a:rPr lang="en-US" altLang="en-US" sz="800" dirty="0">
                <a:latin typeface="Arial" panose="020B0604020202020204" pitchFamily="34" charset="0"/>
              </a:rPr>
              <a:t> Mendez et al., 2006 – Semantic drift, disorganized thought</a:t>
            </a:r>
          </a:p>
          <a:p>
            <a:pPr lvl="0" defTabSz="914400" eaLnBrk="0" fontAlgn="base" hangingPunct="0">
              <a:spcBef>
                <a:spcPct val="0"/>
              </a:spcBef>
              <a:spcAft>
                <a:spcPct val="0"/>
              </a:spcAft>
            </a:pPr>
            <a:r>
              <a:rPr lang="en-US" altLang="en-US" sz="800" b="1" dirty="0">
                <a:latin typeface="Arial" panose="020B0604020202020204" pitchFamily="34" charset="0"/>
              </a:rPr>
              <a:t>[9]</a:t>
            </a:r>
            <a:r>
              <a:rPr lang="en-US" altLang="en-US" sz="800" dirty="0">
                <a:latin typeface="Arial" panose="020B0604020202020204" pitchFamily="34" charset="0"/>
              </a:rPr>
              <a:t> Bittner et al., 2022 – Pronoun use in preclinical AD</a:t>
            </a:r>
          </a:p>
          <a:p>
            <a:pPr lvl="0" defTabSz="914400" eaLnBrk="0" fontAlgn="base" hangingPunct="0">
              <a:spcBef>
                <a:spcPct val="0"/>
              </a:spcBef>
              <a:spcAft>
                <a:spcPct val="0"/>
              </a:spcAft>
            </a:pPr>
            <a:r>
              <a:rPr lang="en-US" altLang="en-US" sz="800" b="1" dirty="0">
                <a:latin typeface="Arial" panose="020B0604020202020204" pitchFamily="34" charset="0"/>
              </a:rPr>
              <a:t>[10]</a:t>
            </a:r>
            <a:r>
              <a:rPr lang="en-US" altLang="en-US" sz="800" dirty="0">
                <a:latin typeface="Arial" panose="020B0604020202020204" pitchFamily="34" charset="0"/>
              </a:rPr>
              <a:t> Eyben et al., 2016 – </a:t>
            </a:r>
            <a:r>
              <a:rPr lang="en-US" altLang="en-US" sz="800" dirty="0" err="1">
                <a:latin typeface="Arial" panose="020B0604020202020204" pitchFamily="34" charset="0"/>
              </a:rPr>
              <a:t>GeMAPS</a:t>
            </a:r>
            <a:r>
              <a:rPr lang="en-US" altLang="en-US" sz="800" dirty="0">
                <a:latin typeface="Arial" panose="020B0604020202020204" pitchFamily="34" charset="0"/>
              </a:rPr>
              <a:t> prosodic features</a:t>
            </a:r>
          </a:p>
          <a:p>
            <a:pPr lvl="0" defTabSz="914400" eaLnBrk="0" fontAlgn="base" hangingPunct="0">
              <a:spcBef>
                <a:spcPct val="0"/>
              </a:spcBef>
              <a:spcAft>
                <a:spcPct val="0"/>
              </a:spcAft>
            </a:pPr>
            <a:r>
              <a:rPr lang="en-US" altLang="en-US" sz="800" b="1" dirty="0">
                <a:latin typeface="Arial" panose="020B0604020202020204" pitchFamily="34" charset="0"/>
              </a:rPr>
              <a:t>[11]</a:t>
            </a:r>
            <a:r>
              <a:rPr lang="en-US" altLang="en-US" sz="800" dirty="0">
                <a:latin typeface="Arial" panose="020B0604020202020204" pitchFamily="34" charset="0"/>
              </a:rPr>
              <a:t> Ding et al., 2023 – Acoustic-brain volume link</a:t>
            </a:r>
          </a:p>
          <a:p>
            <a:endParaRPr lang="en-US" sz="900" dirty="0">
              <a:solidFill>
                <a:schemeClr val="bg2">
                  <a:lumMod val="10000"/>
                </a:schemeClr>
              </a:solidFill>
              <a:latin typeface="Arial" panose="020B0604020202020204" pitchFamily="34" charset="0"/>
              <a:ea typeface="Roboto" panose="02000000000000000000" pitchFamily="2" charset="0"/>
              <a:cs typeface="Arial" panose="020B0604020202020204" pitchFamily="34" charset="0"/>
            </a:endParaRPr>
          </a:p>
        </p:txBody>
      </p:sp>
      <p:sp>
        <p:nvSpPr>
          <p:cNvPr id="92" name="TextBox 91">
            <a:extLst>
              <a:ext uri="{FF2B5EF4-FFF2-40B4-BE49-F238E27FC236}">
                <a16:creationId xmlns:a16="http://schemas.microsoft.com/office/drawing/2014/main" id="{B98D9783-D34F-1FF2-676D-E9CBF20A9616}"/>
              </a:ext>
            </a:extLst>
          </p:cNvPr>
          <p:cNvSpPr txBox="1"/>
          <p:nvPr/>
        </p:nvSpPr>
        <p:spPr>
          <a:xfrm>
            <a:off x="8206500" y="1633735"/>
            <a:ext cx="3834457" cy="1754326"/>
          </a:xfrm>
          <a:prstGeom prst="rect">
            <a:avLst/>
          </a:prstGeom>
          <a:noFill/>
        </p:spPr>
        <p:txBody>
          <a:bodyPr wrap="square" rtlCol="0">
            <a:spAutoFit/>
          </a:bodyPr>
          <a:lstStyle/>
          <a:p>
            <a:r>
              <a:rPr lang="en-US" sz="900" dirty="0"/>
              <a:t>All models surpassed the chance baseline (AUC = 0.5), confirming modest but consistent predictive capability.</a:t>
            </a:r>
          </a:p>
          <a:p>
            <a:r>
              <a:rPr lang="en-US" sz="900" b="1" dirty="0"/>
              <a:t>Feature Contributions</a:t>
            </a:r>
            <a:br>
              <a:rPr lang="en-US" sz="900" dirty="0"/>
            </a:br>
            <a:r>
              <a:rPr lang="en-US" sz="900" dirty="0"/>
              <a:t>The five most predictive features, MATTR, pronoun ratio, semantic drift, type-token ratio, and lexical entropy, were all </a:t>
            </a:r>
            <a:r>
              <a:rPr lang="en-US" sz="900" b="1" dirty="0"/>
              <a:t>lexical</a:t>
            </a:r>
            <a:r>
              <a:rPr lang="en-US" sz="900" dirty="0"/>
              <a:t>. This reinforces prior cognitive research suggesting linguistic changes precede more overt behavioral symptoms in dementia.</a:t>
            </a:r>
          </a:p>
          <a:p>
            <a:r>
              <a:rPr lang="en-US" sz="900" b="1" dirty="0"/>
              <a:t>Interpretation</a:t>
            </a:r>
            <a:br>
              <a:rPr lang="en-US" sz="900" dirty="0"/>
            </a:br>
            <a:r>
              <a:rPr lang="en-US" sz="900" dirty="0"/>
              <a:t>Despite using lightweight models and a limited dataset, the pipeline reliably captured early indicators of cognitive decline. The lexical features show promise for integration into consumer-facing applications like smartphone-based screening tools.</a:t>
            </a:r>
          </a:p>
        </p:txBody>
      </p:sp>
      <p:pic>
        <p:nvPicPr>
          <p:cNvPr id="100" name="Graphic 99" descr="Chemicals with solid fill">
            <a:extLst>
              <a:ext uri="{FF2B5EF4-FFF2-40B4-BE49-F238E27FC236}">
                <a16:creationId xmlns:a16="http://schemas.microsoft.com/office/drawing/2014/main" id="{7EAB777A-5864-86C5-1FF0-6B184B6B27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31129" y="158364"/>
            <a:ext cx="719696" cy="719696"/>
          </a:xfrm>
          <a:prstGeom prst="rect">
            <a:avLst/>
          </a:prstGeom>
        </p:spPr>
      </p:pic>
      <p:pic>
        <p:nvPicPr>
          <p:cNvPr id="101" name="Graphic 100" descr="Bar chart with solid fill">
            <a:extLst>
              <a:ext uri="{FF2B5EF4-FFF2-40B4-BE49-F238E27FC236}">
                <a16:creationId xmlns:a16="http://schemas.microsoft.com/office/drawing/2014/main" id="{065078ED-3635-B9AE-74F3-0AB386443A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91597" y="147453"/>
            <a:ext cx="719695" cy="719695"/>
          </a:xfrm>
          <a:prstGeom prst="rect">
            <a:avLst/>
          </a:prstGeom>
        </p:spPr>
      </p:pic>
      <p:pic>
        <p:nvPicPr>
          <p:cNvPr id="102" name="Graphic 101" descr="Chemicals with solid fill">
            <a:extLst>
              <a:ext uri="{FF2B5EF4-FFF2-40B4-BE49-F238E27FC236}">
                <a16:creationId xmlns:a16="http://schemas.microsoft.com/office/drawing/2014/main" id="{2191CCB8-3487-FC52-B844-841FCE1DBB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06196" y="153653"/>
            <a:ext cx="719695" cy="719695"/>
          </a:xfrm>
          <a:prstGeom prst="rect">
            <a:avLst/>
          </a:prstGeom>
        </p:spPr>
      </p:pic>
      <p:pic>
        <p:nvPicPr>
          <p:cNvPr id="103" name="Graphic 102" descr="Clipboard Checked with solid fill">
            <a:extLst>
              <a:ext uri="{FF2B5EF4-FFF2-40B4-BE49-F238E27FC236}">
                <a16:creationId xmlns:a16="http://schemas.microsoft.com/office/drawing/2014/main" id="{365E96B0-3020-8F00-68F0-4D4DA4121E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90223" y="158366"/>
            <a:ext cx="719694" cy="719694"/>
          </a:xfrm>
          <a:prstGeom prst="rect">
            <a:avLst/>
          </a:prstGeom>
        </p:spPr>
      </p:pic>
      <p:pic>
        <p:nvPicPr>
          <p:cNvPr id="4" name="Picture 3">
            <a:extLst>
              <a:ext uri="{FF2B5EF4-FFF2-40B4-BE49-F238E27FC236}">
                <a16:creationId xmlns:a16="http://schemas.microsoft.com/office/drawing/2014/main" id="{3D13F59A-708A-99B2-207C-1C349DBEADD4}"/>
              </a:ext>
            </a:extLst>
          </p:cNvPr>
          <p:cNvPicPr>
            <a:picLocks noChangeAspect="1"/>
          </p:cNvPicPr>
          <p:nvPr/>
        </p:nvPicPr>
        <p:blipFill>
          <a:blip r:embed="rId10"/>
          <a:stretch>
            <a:fillRect/>
          </a:stretch>
        </p:blipFill>
        <p:spPr>
          <a:xfrm>
            <a:off x="3886136" y="1609849"/>
            <a:ext cx="4107475" cy="3080606"/>
          </a:xfrm>
          <a:prstGeom prst="rect">
            <a:avLst/>
          </a:prstGeom>
        </p:spPr>
      </p:pic>
      <p:pic>
        <p:nvPicPr>
          <p:cNvPr id="27" name="Picture 26">
            <a:extLst>
              <a:ext uri="{FF2B5EF4-FFF2-40B4-BE49-F238E27FC236}">
                <a16:creationId xmlns:a16="http://schemas.microsoft.com/office/drawing/2014/main" id="{9405BA27-C4F9-D825-7A14-6CF0132E262E}"/>
              </a:ext>
            </a:extLst>
          </p:cNvPr>
          <p:cNvPicPr>
            <a:picLocks noChangeAspect="1"/>
          </p:cNvPicPr>
          <p:nvPr/>
        </p:nvPicPr>
        <p:blipFill>
          <a:blip r:embed="rId11"/>
          <a:stretch>
            <a:fillRect/>
          </a:stretch>
        </p:blipFill>
        <p:spPr>
          <a:xfrm>
            <a:off x="8305367" y="4353112"/>
            <a:ext cx="1815789" cy="2357679"/>
          </a:xfrm>
          <a:prstGeom prst="rect">
            <a:avLst/>
          </a:prstGeom>
          <a:ln w="3175">
            <a:solidFill>
              <a:srgbClr val="003057"/>
            </a:solidFill>
          </a:ln>
        </p:spPr>
      </p:pic>
      <p:sp>
        <p:nvSpPr>
          <p:cNvPr id="29" name="Rectangle 28">
            <a:extLst>
              <a:ext uri="{FF2B5EF4-FFF2-40B4-BE49-F238E27FC236}">
                <a16:creationId xmlns:a16="http://schemas.microsoft.com/office/drawing/2014/main" id="{CA56ABAA-D268-E37C-31B2-229B23E144EE}"/>
              </a:ext>
            </a:extLst>
          </p:cNvPr>
          <p:cNvSpPr/>
          <p:nvPr/>
        </p:nvSpPr>
        <p:spPr>
          <a:xfrm>
            <a:off x="8305367" y="3925948"/>
            <a:ext cx="1818361" cy="427164"/>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0E9BE7DC-A027-1C41-2706-70657C0C34A3}"/>
              </a:ext>
            </a:extLst>
          </p:cNvPr>
          <p:cNvSpPr txBox="1"/>
          <p:nvPr/>
        </p:nvSpPr>
        <p:spPr>
          <a:xfrm>
            <a:off x="8353098" y="3961110"/>
            <a:ext cx="1722898" cy="307777"/>
          </a:xfrm>
          <a:prstGeom prst="rect">
            <a:avLst/>
          </a:prstGeom>
          <a:noFill/>
        </p:spPr>
        <p:txBody>
          <a:bodyPr wrap="square" lIns="91440" tIns="45720" rIns="91440" bIns="45720" rtlCol="0" anchor="t">
            <a:spAutoFit/>
          </a:bodyPr>
          <a:lstStyle/>
          <a:p>
            <a:pPr algn="ctr"/>
            <a:r>
              <a:rPr lang="en-US" sz="1400" b="1" dirty="0">
                <a:solidFill>
                  <a:schemeClr val="bg1"/>
                </a:solidFill>
                <a:latin typeface="Roboto"/>
                <a:ea typeface="Roboto Slab"/>
                <a:cs typeface="Roboto"/>
              </a:rPr>
              <a:t>Pipeline Visual</a:t>
            </a:r>
          </a:p>
        </p:txBody>
      </p:sp>
      <p:sp>
        <p:nvSpPr>
          <p:cNvPr id="32" name="TextBox 31">
            <a:extLst>
              <a:ext uri="{FF2B5EF4-FFF2-40B4-BE49-F238E27FC236}">
                <a16:creationId xmlns:a16="http://schemas.microsoft.com/office/drawing/2014/main" id="{AFCC97E1-F438-ADB9-0425-EA3078A7598A}"/>
              </a:ext>
            </a:extLst>
          </p:cNvPr>
          <p:cNvSpPr txBox="1"/>
          <p:nvPr/>
        </p:nvSpPr>
        <p:spPr>
          <a:xfrm>
            <a:off x="3962504" y="4698075"/>
            <a:ext cx="4031107" cy="1615827"/>
          </a:xfrm>
          <a:prstGeom prst="rect">
            <a:avLst/>
          </a:prstGeom>
          <a:noFill/>
        </p:spPr>
        <p:txBody>
          <a:bodyPr wrap="square" rtlCol="0">
            <a:spAutoFit/>
          </a:bodyPr>
          <a:lstStyle/>
          <a:p>
            <a:r>
              <a:rPr lang="en-US" sz="900" b="1" dirty="0"/>
              <a:t>Model Performance</a:t>
            </a:r>
            <a:endParaRPr lang="en-US" sz="900" dirty="0"/>
          </a:p>
          <a:p>
            <a:r>
              <a:rPr lang="en-US" sz="900" b="1" dirty="0"/>
              <a:t>Fusion Model AUC</a:t>
            </a:r>
            <a:r>
              <a:rPr lang="en-US" sz="900" dirty="0"/>
              <a:t>: 0.605 ± 0.077</a:t>
            </a:r>
          </a:p>
          <a:p>
            <a:r>
              <a:rPr lang="en-US" sz="900" b="1" dirty="0"/>
              <a:t>Text-Only AUC</a:t>
            </a:r>
            <a:r>
              <a:rPr lang="en-US" sz="900" dirty="0"/>
              <a:t>: 0.602 ± 0.106</a:t>
            </a:r>
          </a:p>
          <a:p>
            <a:r>
              <a:rPr lang="en-US" sz="900" b="1" dirty="0"/>
              <a:t>Audio-Only AUC</a:t>
            </a:r>
            <a:r>
              <a:rPr lang="en-US" sz="900" dirty="0"/>
              <a:t>: 0.593 ± 0.073</a:t>
            </a:r>
          </a:p>
          <a:p>
            <a:endParaRPr lang="en-US" sz="900" dirty="0"/>
          </a:p>
          <a:p>
            <a:r>
              <a:rPr lang="en-US" sz="900" dirty="0"/>
              <a:t>Both the text and audio models outperformed the baseline, with the text-based model demonstrating slightly higher predictive power but greater variance. The audio model showed lower overall accuracy but more stable performance across folds. While the fusion model did not significantly exceed the performance of the individual classifiers, it offered a modest gain in precision by integrating complementary signals from both modalities.</a:t>
            </a:r>
          </a:p>
        </p:txBody>
      </p:sp>
    </p:spTree>
    <p:extLst>
      <p:ext uri="{BB962C8B-B14F-4D97-AF65-F5344CB8AC3E}">
        <p14:creationId xmlns:p14="http://schemas.microsoft.com/office/powerpoint/2010/main" val="25593915"/>
      </p:ext>
    </p:extLst>
  </p:cSld>
  <p:clrMapOvr>
    <a:masterClrMapping/>
  </p:clrMapOvr>
</p:sld>
</file>

<file path=ppt/theme/theme1.xml><?xml version="1.0" encoding="utf-8"?>
<a:theme xmlns:a="http://schemas.openxmlformats.org/drawingml/2006/main" name="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Dividers">
  <a:themeElements>
    <a:clrScheme name="GA Tech 2021">
      <a:dk1>
        <a:srgbClr val="003057"/>
      </a:dk1>
      <a:lt1>
        <a:srgbClr val="FFFFFF"/>
      </a:lt1>
      <a:dk2>
        <a:srgbClr val="545859"/>
      </a:dk2>
      <a:lt2>
        <a:srgbClr val="D6DBD3"/>
      </a:lt2>
      <a:accent1>
        <a:srgbClr val="EAAA00"/>
      </a:accent1>
      <a:accent2>
        <a:srgbClr val="64CCC9"/>
      </a:accent2>
      <a:accent3>
        <a:srgbClr val="A3D233"/>
      </a:accent3>
      <a:accent4>
        <a:srgbClr val="7800FF"/>
      </a:accent4>
      <a:accent5>
        <a:srgbClr val="008C95"/>
      </a:accent5>
      <a:accent6>
        <a:srgbClr val="E04F3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3.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GATech_PPTtemplate_2021_wide</Template>
  <TotalTime>11385</TotalTime>
  <Words>613</Words>
  <Application>Microsoft Office PowerPoint</Application>
  <PresentationFormat>Widescreen</PresentationFormat>
  <Paragraphs>36</Paragraphs>
  <Slides>1</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Roboto</vt:lpstr>
      <vt:lpstr>Calibri</vt:lpstr>
      <vt:lpstr>Title Page</vt:lpstr>
      <vt:lpstr>Dividers</vt:lpstr>
      <vt:lpstr>Content Page</vt:lpstr>
      <vt:lpstr>PowerPoint Presentation</vt:lpstr>
    </vt:vector>
  </TitlesOfParts>
  <Company>Georgia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Shapes and Charts  Style Guide</dc:title>
  <dc:creator>Perez, Raul N</dc:creator>
  <cp:lastModifiedBy>Salah, Royce K</cp:lastModifiedBy>
  <cp:revision>73</cp:revision>
  <dcterms:created xsi:type="dcterms:W3CDTF">2022-08-24T13:02:54Z</dcterms:created>
  <dcterms:modified xsi:type="dcterms:W3CDTF">2025-07-20T21:42:32Z</dcterms:modified>
</cp:coreProperties>
</file>